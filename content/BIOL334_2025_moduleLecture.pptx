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7" r:id="rId3"/>
    <p:sldId id="263" r:id="rId4"/>
    <p:sldId id="264" r:id="rId5"/>
    <p:sldId id="266" r:id="rId6"/>
    <p:sldId id="260" r:id="rId7"/>
    <p:sldId id="259" r:id="rId8"/>
    <p:sldId id="272" r:id="rId9"/>
    <p:sldId id="269" r:id="rId10"/>
    <p:sldId id="273" r:id="rId11"/>
    <p:sldId id="271" r:id="rId12"/>
    <p:sldId id="282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5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deric Guichard, Prof" userId="1cc351fa-b74d-4543-9bb4-8b8bfbbc486b" providerId="ADAL" clId="{F28C65CD-C779-558A-A98F-DB954C19AA2E}"/>
    <pc:docChg chg="modSld sldOrd">
      <pc:chgData name="Frederic Guichard, Prof" userId="1cc351fa-b74d-4543-9bb4-8b8bfbbc486b" providerId="ADAL" clId="{F28C65CD-C779-558A-A98F-DB954C19AA2E}" dt="2026-05-04T12:55:07.770" v="19" actId="20577"/>
      <pc:docMkLst>
        <pc:docMk/>
      </pc:docMkLst>
      <pc:sldChg chg="ord">
        <pc:chgData name="Frederic Guichard, Prof" userId="1cc351fa-b74d-4543-9bb4-8b8bfbbc486b" providerId="ADAL" clId="{F28C65CD-C779-558A-A98F-DB954C19AA2E}" dt="2026-05-03T11:12:35.159" v="0" actId="20578"/>
        <pc:sldMkLst>
          <pc:docMk/>
          <pc:sldMk cId="1530308221" sldId="259"/>
        </pc:sldMkLst>
      </pc:sldChg>
      <pc:sldChg chg="ord">
        <pc:chgData name="Frederic Guichard, Prof" userId="1cc351fa-b74d-4543-9bb4-8b8bfbbc486b" providerId="ADAL" clId="{F28C65CD-C779-558A-A98F-DB954C19AA2E}" dt="2026-05-04T12:54:17.021" v="2" actId="20578"/>
        <pc:sldMkLst>
          <pc:docMk/>
          <pc:sldMk cId="2036637828" sldId="260"/>
        </pc:sldMkLst>
      </pc:sldChg>
      <pc:sldChg chg="ord">
        <pc:chgData name="Frederic Guichard, Prof" userId="1cc351fa-b74d-4543-9bb4-8b8bfbbc486b" providerId="ADAL" clId="{F28C65CD-C779-558A-A98F-DB954C19AA2E}" dt="2026-05-04T12:53:40.509" v="1" actId="20578"/>
        <pc:sldMkLst>
          <pc:docMk/>
          <pc:sldMk cId="3604135272" sldId="266"/>
        </pc:sldMkLst>
      </pc:sldChg>
      <pc:sldChg chg="modSp mod">
        <pc:chgData name="Frederic Guichard, Prof" userId="1cc351fa-b74d-4543-9bb4-8b8bfbbc486b" providerId="ADAL" clId="{F28C65CD-C779-558A-A98F-DB954C19AA2E}" dt="2026-05-04T12:55:07.770" v="19" actId="20577"/>
        <pc:sldMkLst>
          <pc:docMk/>
          <pc:sldMk cId="2933638928" sldId="271"/>
        </pc:sldMkLst>
        <pc:spChg chg="mod">
          <ac:chgData name="Frederic Guichard, Prof" userId="1cc351fa-b74d-4543-9bb4-8b8bfbbc486b" providerId="ADAL" clId="{F28C65CD-C779-558A-A98F-DB954C19AA2E}" dt="2026-05-04T12:55:07.770" v="19" actId="20577"/>
          <ac:spMkLst>
            <pc:docMk/>
            <pc:sldMk cId="2933638928" sldId="271"/>
            <ac:spMk id="3" creationId="{9A437130-9E5B-4591-B9F9-F96343E3ECB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0C83EE-8E03-4A73-AD6D-F7836A30BBD6}" type="datetimeFigureOut">
              <a:rPr lang="en-CA" smtClean="0"/>
              <a:t>2026-05-03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5E8699-32A7-44EA-8F53-C2B96BAEB65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2712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ext Box 1">
            <a:extLst>
              <a:ext uri="{FF2B5EF4-FFF2-40B4-BE49-F238E27FC236}">
                <a16:creationId xmlns:a16="http://schemas.microsoft.com/office/drawing/2014/main" id="{F6867269-F8B8-4321-A4BD-C0D769652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0" y="1006475"/>
            <a:ext cx="4595813" cy="34480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4098" name="Text Box 2">
            <a:extLst>
              <a:ext uri="{FF2B5EF4-FFF2-40B4-BE49-F238E27FC236}">
                <a16:creationId xmlns:a16="http://schemas.microsoft.com/office/drawing/2014/main" id="{105DC0B0-D400-4C17-80DD-1F80091730D1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1185863" y="4787900"/>
            <a:ext cx="5407025" cy="38258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85725" indent="-85725" eaLnBrk="1">
              <a:lnSpc>
                <a:spcPct val="93000"/>
              </a:lnSpc>
              <a:spcBef>
                <a:spcPct val="0"/>
              </a:spcBef>
              <a:buSzPct val="45000"/>
              <a:buFont typeface="Wingdings" panose="05000000000000000000" pitchFamily="2" charset="2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</a:pPr>
            <a:r>
              <a:rPr lang="en-GB" altLang="en-US">
                <a:latin typeface="Arial" panose="020B0604020202020204" pitchFamily="34" charset="0"/>
                <a:cs typeface="msgothic" charset="0"/>
              </a:rPr>
              <a:t>Mean grazing intensity of parrotfishes (black bars) and macroalgal cover (gray bars) (±SE) inside and outside the ECLSP. Reserve impacts are significant (</a:t>
            </a:r>
            <a:r>
              <a:rPr lang="en-GB" altLang="en-US" i="1">
                <a:latin typeface="Arial" panose="020B0604020202020204" pitchFamily="34" charset="0"/>
                <a:cs typeface="msgothic" charset="0"/>
              </a:rPr>
              <a:t>P</a:t>
            </a:r>
            <a:r>
              <a:rPr lang="en-GB" altLang="en-US">
                <a:latin typeface="Arial" panose="020B0604020202020204" pitchFamily="34" charset="0"/>
                <a:cs typeface="msgothic" charset="0"/>
              </a:rPr>
              <a:t> &lt; 0.01) for each variable.</a:t>
            </a:r>
          </a:p>
        </p:txBody>
      </p:sp>
    </p:spTree>
    <p:extLst>
      <p:ext uri="{BB962C8B-B14F-4D97-AF65-F5344CB8AC3E}">
        <p14:creationId xmlns:p14="http://schemas.microsoft.com/office/powerpoint/2010/main" val="2040504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0E557-1DDE-42AC-B330-D204C4FC5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E65C7-D8A8-4C4C-93DD-851EEB68A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14F75-1366-4C9C-AB85-367A768D3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361E-2353-48D7-AAF8-80895C66ADF4}" type="datetimeFigureOut">
              <a:rPr lang="en-CA" smtClean="0"/>
              <a:t>2026-05-03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CDD07-152A-40DF-AFF0-7207573CB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5B1AD-86F9-4EBE-A484-5D06CC7C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2A1C-4884-491F-8F54-EFFC1656A1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540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9126-24D3-457C-934A-E57E8FA94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76520-EAFD-4883-B00B-931D85B7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BA91A-F8CA-434A-8828-7A43237A4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361E-2353-48D7-AAF8-80895C66ADF4}" type="datetimeFigureOut">
              <a:rPr lang="en-CA" smtClean="0"/>
              <a:t>2026-05-03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45DCE-A377-4113-BB5F-AC92C1315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70CAA-F3AA-47B5-B036-2474C8E7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2A1C-4884-491F-8F54-EFFC1656A1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3103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03B6F-062E-4DB6-A193-6B1AFB0F8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351BF-7216-4545-8910-1D42F5335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4AF06-DA5D-4987-A17B-DD3D51F1F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361E-2353-48D7-AAF8-80895C66ADF4}" type="datetimeFigureOut">
              <a:rPr lang="en-CA" smtClean="0"/>
              <a:t>2026-05-03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B056C-175A-4AC4-9D05-7D1511339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63D9E-B153-4A2B-9CCB-9900DAFFF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2A1C-4884-491F-8F54-EFFC1656A1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0960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8457D-EBE4-499C-8458-5D878EF01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F6689-0466-466A-92C6-DEE831A23A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10DB4-183E-4E25-9230-98C25460F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D1E4E-2ED6-4217-9A43-93D3CF19C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361E-2353-48D7-AAF8-80895C66ADF4}" type="datetimeFigureOut">
              <a:rPr lang="en-CA" smtClean="0"/>
              <a:t>2026-05-03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1C459-BB74-4FC4-9C5B-CDAD0C88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A2C14-9CF3-4C18-9426-37A0E8B2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2A1C-4884-491F-8F54-EFFC1656A1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6723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2C54A-1877-46BB-A287-8E00C6AB1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CA531-C081-44FB-9977-EB9A9E16D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8A46B4-B99A-40B8-B3EF-1BB03B990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5934E5-928B-4514-9CB5-792F194956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9AE73-9D65-405A-9B14-73D3F7DBD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BEF3D8-89CD-42C7-9A94-23AFB6540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361E-2353-48D7-AAF8-80895C66ADF4}" type="datetimeFigureOut">
              <a:rPr lang="en-CA" smtClean="0"/>
              <a:t>2026-05-03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7BA49-F9DB-47D9-9C57-4BBCF02C7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6405A8-FBC0-4C75-B99E-B3F00CE57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2A1C-4884-491F-8F54-EFFC1656A1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4130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ECB6C-4748-411F-8D2D-AA06B997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A8BA59-DD72-42F0-9CDA-1948A9B34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361E-2353-48D7-AAF8-80895C66ADF4}" type="datetimeFigureOut">
              <a:rPr lang="en-CA" smtClean="0"/>
              <a:t>2026-05-03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C2BAC0-C006-4E5A-87E2-AC010D2C4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C525D1-7307-491D-BB5A-7D708BC64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2A1C-4884-491F-8F54-EFFC1656A1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8431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2316EC-42CB-4B3A-9F20-C3B30654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361E-2353-48D7-AAF8-80895C66ADF4}" type="datetimeFigureOut">
              <a:rPr lang="en-CA" smtClean="0"/>
              <a:t>2026-05-03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38CFD-A8EA-4899-BF3D-527FB0C6C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758F6-CB13-4A66-8F62-ADCFD6EED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2A1C-4884-491F-8F54-EFFC1656A1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5453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6CEBC-CE47-41A4-A156-4EC7A61E6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66FD-00A8-4612-AED6-68166CECB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B5CE7-9FCE-46DD-95D8-50C76DC3A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6B1ED-F6A2-4573-AE5C-1BF0FC598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361E-2353-48D7-AAF8-80895C66ADF4}" type="datetimeFigureOut">
              <a:rPr lang="en-CA" smtClean="0"/>
              <a:t>2026-05-03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3882D-FD25-4314-ADAC-58BE9C82A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A23EF-1FA5-4F91-8A60-8581CAB1D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2A1C-4884-491F-8F54-EFFC1656A1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2329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96392-8FEC-4924-B9FA-34A238218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012CF1-F254-40FF-AC56-9B6421FD0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AA410-D70A-4005-9A78-DC9CEF2EB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95699-E299-4A7E-B905-2ADC34F85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361E-2353-48D7-AAF8-80895C66ADF4}" type="datetimeFigureOut">
              <a:rPr lang="en-CA" smtClean="0"/>
              <a:t>2026-05-03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D6E10-1B6F-4923-AB79-1C9A3E284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29F42-60EB-43C9-AFCF-B749C4707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2A1C-4884-491F-8F54-EFFC1656A1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6835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5092-173E-4B0D-95C1-7BB2AC64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338F5-8735-4DA8-8E22-1727B42E9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099FD-A6AD-4FE0-A438-EDDD36A0E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361E-2353-48D7-AAF8-80895C66ADF4}" type="datetimeFigureOut">
              <a:rPr lang="en-CA" smtClean="0"/>
              <a:t>2026-05-03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FF7B2-6FB6-4708-B827-F42281E72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99615-F597-4F7E-A286-BE3F7961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2A1C-4884-491F-8F54-EFFC1656A1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805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A9B5E8-90C1-4E51-A1F8-EE96DC32E8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22418-5CEA-41CE-BF3B-33E7AE349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5A51F-D71F-4231-BA26-32F55DCD7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4361E-2353-48D7-AAF8-80895C66ADF4}" type="datetimeFigureOut">
              <a:rPr lang="en-CA" smtClean="0"/>
              <a:t>2026-05-03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47FC7-CAEB-4931-BFC6-A6ADCE8DA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0EA86-050D-4466-817B-FD4ECF711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D2A1C-4884-491F-8F54-EFFC1656A1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704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BFFE6-B58C-4665-8FC6-E4F188709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B3287-ACA8-42AB-A286-3355056AF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9E3A3-32EF-43A3-95FF-F8B4D857CA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4361E-2353-48D7-AAF8-80895C66ADF4}" type="datetimeFigureOut">
              <a:rPr lang="en-CA" smtClean="0"/>
              <a:t>2026-05-03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A09BA-05F1-4DA9-A144-C169FDF499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2E8A2-EAB9-4019-9C0A-CB0290808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D2A1C-4884-491F-8F54-EFFC1656A1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258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Relationship Id="rId9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338-009-0506-8#ref-CR45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F01B4-2761-491F-A9CA-F4567542B8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Regulation of coral-algal interactions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C1894-FDF2-45E8-8B72-3E2BBC763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0755" y="4059238"/>
            <a:ext cx="9144000" cy="1655762"/>
          </a:xfrm>
        </p:spPr>
        <p:txBody>
          <a:bodyPr/>
          <a:lstStyle/>
          <a:p>
            <a:r>
              <a:rPr lang="en-US" dirty="0"/>
              <a:t>This is a complex story: it involves competition, predation, pathogens, grazing, overfishing, climate change, and marine protected areas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8959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4DAF2-D30C-4306-96C2-3493DDC55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Coral decline</a:t>
            </a:r>
            <a:endParaRPr lang="en-CA" dirty="0"/>
          </a:p>
        </p:txBody>
      </p:sp>
      <p:pic>
        <p:nvPicPr>
          <p:cNvPr id="4" name="Picture 2" descr="Figure 1">
            <a:extLst>
              <a:ext uri="{FF2B5EF4-FFF2-40B4-BE49-F238E27FC236}">
                <a16:creationId xmlns:a16="http://schemas.microsoft.com/office/drawing/2014/main" id="{071F0CD4-54BD-4E6A-9FCA-D7DF39255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603" y="1950585"/>
            <a:ext cx="5715000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014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BA488-9C2F-4F0C-8CAD-86A75560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Grazers</a:t>
            </a:r>
            <a:endParaRPr lang="en-CA" b="1" dirty="0"/>
          </a:p>
        </p:txBody>
      </p:sp>
      <p:pic>
        <p:nvPicPr>
          <p:cNvPr id="4" name="Picture 4" descr="Image result">
            <a:extLst>
              <a:ext uri="{FF2B5EF4-FFF2-40B4-BE49-F238E27FC236}">
                <a16:creationId xmlns:a16="http://schemas.microsoft.com/office/drawing/2014/main" id="{AD0E83AC-D2EC-40E6-A87B-778CB9112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99" y="2893134"/>
            <a:ext cx="3407107" cy="226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carus vetula.jpg">
            <a:extLst>
              <a:ext uri="{FF2B5EF4-FFF2-40B4-BE49-F238E27FC236}">
                <a16:creationId xmlns:a16="http://schemas.microsoft.com/office/drawing/2014/main" id="{3B8458DC-5494-4A29-A6E6-82C55DB00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066" y="2632438"/>
            <a:ext cx="2554201" cy="397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Diadema antillarum Flower Garden Banks.jpg">
            <a:extLst>
              <a:ext uri="{FF2B5EF4-FFF2-40B4-BE49-F238E27FC236}">
                <a16:creationId xmlns:a16="http://schemas.microsoft.com/office/drawing/2014/main" id="{0911316F-B16A-410B-B700-D1E17F72C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120" y="478867"/>
            <a:ext cx="4240932" cy="281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8A8621-3C4B-425D-B4B3-225D42D302CB}"/>
              </a:ext>
            </a:extLst>
          </p:cNvPr>
          <p:cNvSpPr/>
          <p:nvPr/>
        </p:nvSpPr>
        <p:spPr>
          <a:xfrm>
            <a:off x="4740500" y="3405582"/>
            <a:ext cx="32700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long-</a:t>
            </a:r>
            <a:r>
              <a:rPr lang="en-CA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spined</a:t>
            </a:r>
            <a:r>
              <a:rPr lang="en-CA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sea urchin (</a:t>
            </a:r>
            <a:r>
              <a:rPr lang="en-CA" b="1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Diadema</a:t>
            </a:r>
            <a:r>
              <a:rPr lang="en-CA" b="1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CA" b="1" i="1" dirty="0" err="1">
                <a:solidFill>
                  <a:srgbClr val="222222"/>
                </a:solidFill>
                <a:latin typeface="Arial" panose="020B0604020202020204" pitchFamily="34" charset="0"/>
              </a:rPr>
              <a:t>a</a:t>
            </a:r>
            <a:r>
              <a:rPr lang="en-CA" b="1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ntillarum</a:t>
            </a:r>
            <a:r>
              <a:rPr lang="en-CA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F6B94D-3575-4FA8-9946-2E75639A9120}"/>
              </a:ext>
            </a:extLst>
          </p:cNvPr>
          <p:cNvSpPr/>
          <p:nvPr/>
        </p:nvSpPr>
        <p:spPr>
          <a:xfrm>
            <a:off x="9168930" y="1847252"/>
            <a:ext cx="23543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Queen Parrotfish (</a:t>
            </a:r>
            <a:r>
              <a:rPr lang="en-CA" b="1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Scarus</a:t>
            </a:r>
            <a:r>
              <a:rPr lang="en-CA" b="1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CA" b="1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vetula</a:t>
            </a:r>
            <a:r>
              <a:rPr lang="en-CA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</a:t>
            </a:r>
            <a:endParaRPr lang="en-CA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8BC6D9-53E7-4474-BD07-A0F54090EF35}"/>
              </a:ext>
            </a:extLst>
          </p:cNvPr>
          <p:cNvSpPr/>
          <p:nvPr/>
        </p:nvSpPr>
        <p:spPr>
          <a:xfrm>
            <a:off x="1019942" y="5301733"/>
            <a:ext cx="26186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b="1" i="0" dirty="0">
                <a:solidFill>
                  <a:srgbClr val="000000"/>
                </a:solidFill>
                <a:effectLst/>
                <a:latin typeface="Open Sans"/>
              </a:rPr>
              <a:t>Stoplight parrotfish (</a:t>
            </a:r>
            <a:r>
              <a:rPr lang="en-CA" b="1" i="1" dirty="0" err="1">
                <a:solidFill>
                  <a:srgbClr val="000000"/>
                </a:solidFill>
                <a:effectLst/>
                <a:latin typeface="Open Sans"/>
              </a:rPr>
              <a:t>Sparisoma</a:t>
            </a:r>
            <a:r>
              <a:rPr lang="en-CA" b="1" i="1" dirty="0"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lang="en-CA" b="1" i="1" dirty="0" err="1">
                <a:solidFill>
                  <a:srgbClr val="000000"/>
                </a:solidFill>
                <a:effectLst/>
                <a:latin typeface="Open Sans"/>
              </a:rPr>
              <a:t>viride</a:t>
            </a:r>
            <a:r>
              <a:rPr lang="en-CA" b="1" i="0" dirty="0">
                <a:solidFill>
                  <a:srgbClr val="000000"/>
                </a:solidFill>
                <a:effectLst/>
                <a:latin typeface="Open Sans"/>
              </a:rPr>
              <a:t>)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78675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0AACE-1576-4703-B80C-0C65663DA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 between the coral </a:t>
            </a:r>
            <a:r>
              <a:rPr lang="en-US" i="1" dirty="0" err="1"/>
              <a:t>Orbicella</a:t>
            </a:r>
            <a:r>
              <a:rPr lang="en-US" i="1" dirty="0"/>
              <a:t> </a:t>
            </a:r>
            <a:r>
              <a:rPr lang="en-US" i="1" dirty="0" err="1"/>
              <a:t>annularis</a:t>
            </a:r>
            <a:r>
              <a:rPr lang="en-US" dirty="0"/>
              <a:t> and turf algae containing sediment</a:t>
            </a:r>
          </a:p>
        </p:txBody>
      </p:sp>
      <p:pic>
        <p:nvPicPr>
          <p:cNvPr id="7170" name="Picture 2" descr="Figure 3">
            <a:extLst>
              <a:ext uri="{FF2B5EF4-FFF2-40B4-BE49-F238E27FC236}">
                <a16:creationId xmlns:a16="http://schemas.microsoft.com/office/drawing/2014/main" id="{FF9619E6-0909-4DB7-B67F-D70DCAF30F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805"/>
          <a:stretch/>
        </p:blipFill>
        <p:spPr bwMode="auto">
          <a:xfrm>
            <a:off x="1402475" y="2281238"/>
            <a:ext cx="4474134" cy="363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Figure 3">
            <a:extLst>
              <a:ext uri="{FF2B5EF4-FFF2-40B4-BE49-F238E27FC236}">
                <a16:creationId xmlns:a16="http://schemas.microsoft.com/office/drawing/2014/main" id="{6D198683-D45F-4717-835B-489B62715C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196" b="265"/>
          <a:stretch/>
        </p:blipFill>
        <p:spPr bwMode="auto">
          <a:xfrm>
            <a:off x="6488825" y="3133726"/>
            <a:ext cx="4474134" cy="228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743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510DE-0762-4855-8AD4-B8FC6020F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Marine protected areas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DA60B9-2298-4218-B88E-634F06ED3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730" y="2011090"/>
            <a:ext cx="4576494" cy="44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35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>
            <a:extLst>
              <a:ext uri="{FF2B5EF4-FFF2-40B4-BE49-F238E27FC236}">
                <a16:creationId xmlns:a16="http://schemas.microsoft.com/office/drawing/2014/main" id="{3DA93523-AE7B-4F77-A44B-7514A89C4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8995" y="381641"/>
            <a:ext cx="8494012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5pPr>
            <a:lvl6pPr marL="1536700" indent="-2159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6pPr>
            <a:lvl7pPr marL="1993900" indent="-2159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7pPr>
            <a:lvl8pPr marL="2451100" indent="-2159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8pPr>
            <a:lvl9pPr marL="2908300" indent="-2159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9pPr>
          </a:lstStyle>
          <a:p>
            <a:pPr algn="ctr"/>
            <a:r>
              <a:rPr lang="en-GB" altLang="en-US" sz="1452" b="1">
                <a:latin typeface="Arial" panose="020B0604020202020204" pitchFamily="34" charset="0"/>
              </a:rPr>
              <a:t>Fig. 4. Mean grazing intensity of parrotfishes (black bars) and macroalgal cover (gray bars) (±SE) inside and outside the ECLSP. Reserve impacts are significant (P &lt; 0.01) for each variable.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7A10687-76E6-46F8-ADF1-ED416C311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4252" y="5943505"/>
            <a:ext cx="1227009" cy="65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D182B61D-6D76-436C-A665-C1B164750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137" y="979304"/>
            <a:ext cx="7327489" cy="4893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6" name="Text Box 4">
            <a:extLst>
              <a:ext uri="{FF2B5EF4-FFF2-40B4-BE49-F238E27FC236}">
                <a16:creationId xmlns:a16="http://schemas.microsoft.com/office/drawing/2014/main" id="{2E9A62DA-6E2C-4F78-9491-93FE8C579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5137" y="5972308"/>
            <a:ext cx="3918651" cy="231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F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5pPr>
            <a:lvl6pPr marL="1536700" indent="-2159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6pPr>
            <a:lvl7pPr marL="1993900" indent="-2159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7pPr>
            <a:lvl8pPr marL="2451100" indent="-2159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8pPr>
            <a:lvl9pPr marL="2908300" indent="-2159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9pPr>
          </a:lstStyle>
          <a:p>
            <a:r>
              <a:rPr lang="en-GB" altLang="en-US" sz="1089" b="1">
                <a:latin typeface="Arial" panose="020B0604020202020204" pitchFamily="34" charset="0"/>
              </a:rPr>
              <a:t>Peter J. Mumby et al. Science 2006;311:98-101</a:t>
            </a:r>
          </a:p>
        </p:txBody>
      </p:sp>
      <p:sp>
        <p:nvSpPr>
          <p:cNvPr id="3077" name="Text Box 5">
            <a:extLst>
              <a:ext uri="{FF2B5EF4-FFF2-40B4-BE49-F238E27FC236}">
                <a16:creationId xmlns:a16="http://schemas.microsoft.com/office/drawing/2014/main" id="{9D2BB511-BF74-4D20-BBA0-8392F119C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1451" y="6613175"/>
            <a:ext cx="4931078" cy="3470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85725" indent="-85725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5pPr>
            <a:lvl6pPr marL="1536700" indent="-2159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6pPr>
            <a:lvl7pPr marL="1993900" indent="-2159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7pPr>
            <a:lvl8pPr marL="2451100" indent="-2159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8pPr>
            <a:lvl9pPr marL="2908300" indent="-2159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msgothic" charset="0"/>
              </a:defRPr>
            </a:lvl9pPr>
          </a:lstStyle>
          <a:p>
            <a:r>
              <a:rPr lang="en-GB" altLang="en-US" sz="907">
                <a:latin typeface="Arial" panose="020B0604020202020204" pitchFamily="34" charset="0"/>
              </a:rPr>
              <a:t>Published by AAAS</a:t>
            </a:r>
          </a:p>
        </p:txBody>
      </p:sp>
    </p:spTree>
    <p:extLst>
      <p:ext uri="{BB962C8B-B14F-4D97-AF65-F5344CB8AC3E}">
        <p14:creationId xmlns:p14="http://schemas.microsoft.com/office/powerpoint/2010/main" val="20366378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BE779-8F45-4D44-8162-CF461894D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Fishing, Trophic Cascades, and the Process of Grazing on Coral Reefs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045C7-2158-4653-9DC2-B1145A33C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the mass mortality of the urchin </a:t>
            </a:r>
            <a:r>
              <a:rPr lang="en-US" dirty="0" err="1"/>
              <a:t>Diadema</a:t>
            </a:r>
            <a:r>
              <a:rPr lang="en-US" dirty="0"/>
              <a:t> </a:t>
            </a:r>
            <a:r>
              <a:rPr lang="en-US" dirty="0" err="1"/>
              <a:t>antillarum</a:t>
            </a:r>
            <a:r>
              <a:rPr lang="en-US" dirty="0"/>
              <a:t> in 1983, parrotfishes have become the dominant grazer on Caribbean reefs. The grazing capacity of these fish could be impaired if marine reserves achieve their long-term goal of restoring large consumers, several of which prey on parrotfishes.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30308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Barbados Map">
            <a:extLst>
              <a:ext uri="{FF2B5EF4-FFF2-40B4-BE49-F238E27FC236}">
                <a16:creationId xmlns:a16="http://schemas.microsoft.com/office/drawing/2014/main" id="{E4B1936E-8D18-4028-BEED-79CC235542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47" r="62978" b="819"/>
          <a:stretch/>
        </p:blipFill>
        <p:spPr bwMode="auto">
          <a:xfrm>
            <a:off x="1502228" y="1172936"/>
            <a:ext cx="3404508" cy="464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1" descr="Barbados Map">
            <a:extLst>
              <a:ext uri="{FF2B5EF4-FFF2-40B4-BE49-F238E27FC236}">
                <a16:creationId xmlns:a16="http://schemas.microsoft.com/office/drawing/2014/main" id="{4F422F71-C8AF-41B9-BC87-2B2180787D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171"/>
          <a:stretch/>
        </p:blipFill>
        <p:spPr bwMode="auto">
          <a:xfrm>
            <a:off x="5695950" y="421822"/>
            <a:ext cx="5625056" cy="5529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360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955B-98B6-44AB-98B9-EA092E1C7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74625"/>
            <a:ext cx="3981450" cy="1325563"/>
          </a:xfrm>
        </p:spPr>
        <p:txBody>
          <a:bodyPr/>
          <a:lstStyle/>
          <a:p>
            <a:r>
              <a:rPr lang="en-US" dirty="0" err="1"/>
              <a:t>Folkestone</a:t>
            </a:r>
            <a:r>
              <a:rPr lang="en-US" dirty="0"/>
              <a:t> Reef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98DACA-A813-46DB-B990-9375334E5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0311" y="1416200"/>
            <a:ext cx="9570189" cy="515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381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BFF793A-96B4-4404-8B76-375E6CD06E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59" y="4560395"/>
            <a:ext cx="2226057" cy="17022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84D32D-C9B9-4F7A-8B4F-0782CE57C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44" y="1278971"/>
            <a:ext cx="2328672" cy="21336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93C7C4E-A5CF-4F96-9052-2ED45DCE4814}"/>
              </a:ext>
            </a:extLst>
          </p:cNvPr>
          <p:cNvGrpSpPr/>
          <p:nvPr/>
        </p:nvGrpSpPr>
        <p:grpSpPr>
          <a:xfrm>
            <a:off x="8749029" y="259724"/>
            <a:ext cx="2245360" cy="2262705"/>
            <a:chOff x="6695440" y="3398520"/>
            <a:chExt cx="1916684" cy="1975496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361071C-4573-4AD7-A1CC-A3E3E478F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10756" y="4173104"/>
              <a:ext cx="1801368" cy="1200912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3408F2-417C-4CF8-BBBC-406D92F9C01F}"/>
                </a:ext>
              </a:extLst>
            </p:cNvPr>
            <p:cNvSpPr txBox="1"/>
            <p:nvPr/>
          </p:nvSpPr>
          <p:spPr>
            <a:xfrm>
              <a:off x="6695440" y="3398520"/>
              <a:ext cx="1828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Queen – initial phase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5BB2F63-4697-4D1A-9FB7-90B14E1D57E4}"/>
              </a:ext>
            </a:extLst>
          </p:cNvPr>
          <p:cNvSpPr txBox="1"/>
          <p:nvPr/>
        </p:nvSpPr>
        <p:spPr>
          <a:xfrm>
            <a:off x="888999" y="4029014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Stoplight - initial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7EAC7AE-C88A-42FE-9F45-BD581E1C17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940" y="898124"/>
            <a:ext cx="2705100" cy="168592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8B0FC75-1409-494B-93E0-7D71F112129F}"/>
              </a:ext>
            </a:extLst>
          </p:cNvPr>
          <p:cNvSpPr txBox="1"/>
          <p:nvPr/>
        </p:nvSpPr>
        <p:spPr>
          <a:xfrm>
            <a:off x="695958" y="470591"/>
            <a:ext cx="2429257" cy="382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Stoplight - terminal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94CF43-3F1A-4490-887B-372B4FBE8424}"/>
              </a:ext>
            </a:extLst>
          </p:cNvPr>
          <p:cNvSpPr txBox="1"/>
          <p:nvPr/>
        </p:nvSpPr>
        <p:spPr>
          <a:xfrm>
            <a:off x="5205728" y="259724"/>
            <a:ext cx="2429257" cy="382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Queen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terminal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C829C6E-6E18-4958-A13C-52B56BFF95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688" y="4398346"/>
            <a:ext cx="2424561" cy="161637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FC2D60DB-8D9D-4A43-B2B7-7A775D2CD2A8}"/>
              </a:ext>
            </a:extLst>
          </p:cNvPr>
          <p:cNvSpPr txBox="1"/>
          <p:nvPr/>
        </p:nvSpPr>
        <p:spPr>
          <a:xfrm>
            <a:off x="3563618" y="4017409"/>
            <a:ext cx="2329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Stoptlight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juvenile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B96E22-DD00-48D7-8E52-AF725ED771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120" y="4571678"/>
            <a:ext cx="3121152" cy="2075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AA7188-EA59-441D-8F24-1AB28C07F7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618" y="3049271"/>
            <a:ext cx="3103751" cy="218504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A945720-3C36-4731-8F8B-046D741721C0}"/>
              </a:ext>
            </a:extLst>
          </p:cNvPr>
          <p:cNvSpPr txBox="1"/>
          <p:nvPr/>
        </p:nvSpPr>
        <p:spPr>
          <a:xfrm>
            <a:off x="9842369" y="3221146"/>
            <a:ext cx="2429257" cy="382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Princess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terminal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DB95E1-AB5F-494E-9883-62E9A8F6C74C}"/>
              </a:ext>
            </a:extLst>
          </p:cNvPr>
          <p:cNvSpPr txBox="1"/>
          <p:nvPr/>
        </p:nvSpPr>
        <p:spPr>
          <a:xfrm>
            <a:off x="10129983" y="4195316"/>
            <a:ext cx="2429257" cy="382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Princess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initial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BEDDBC-0E08-4DDF-9768-62CFC8AC04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824" y="5151113"/>
            <a:ext cx="2769090" cy="141280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9899DC1-6D99-41EA-A568-08BBB849689B}"/>
              </a:ext>
            </a:extLst>
          </p:cNvPr>
          <p:cNvSpPr txBox="1"/>
          <p:nvPr/>
        </p:nvSpPr>
        <p:spPr>
          <a:xfrm>
            <a:off x="6420356" y="6475151"/>
            <a:ext cx="2429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Princess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 </a:t>
            </a:r>
            <a:r>
              <a:rPr lang="en-US" dirty="0"/>
              <a:t>juvenile</a:t>
            </a:r>
          </a:p>
        </p:txBody>
      </p:sp>
    </p:spTree>
    <p:extLst>
      <p:ext uri="{BB962C8B-B14F-4D97-AF65-F5344CB8AC3E}">
        <p14:creationId xmlns:p14="http://schemas.microsoft.com/office/powerpoint/2010/main" val="3876127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83CD-6C7E-4D65-A983-0B8615A5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design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37130-9E5B-4591-B9F9-F96343E3E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Quantitative assessment: spatial variation in grazing intensity, coral cover, and algal cover</a:t>
            </a:r>
          </a:p>
          <a:p>
            <a:r>
              <a:rPr lang="en-US" dirty="0"/>
              <a:t>Hypothesis testing: controlled observations vs. controlled experiments</a:t>
            </a:r>
          </a:p>
          <a:p>
            <a:pPr lvl="1"/>
            <a:r>
              <a:rPr lang="en-US" b="1" dirty="0"/>
              <a:t>Prediction</a:t>
            </a:r>
            <a:r>
              <a:rPr lang="en-US" dirty="0"/>
              <a:t>: reef structure and substratum influence </a:t>
            </a:r>
            <a:r>
              <a:rPr lang="en-US"/>
              <a:t>species distribution and </a:t>
            </a:r>
            <a:r>
              <a:rPr lang="en-US" dirty="0"/>
              <a:t>specific grazing intensity</a:t>
            </a:r>
          </a:p>
          <a:p>
            <a:r>
              <a:rPr lang="en-US" dirty="0"/>
              <a:t>Measured variables</a:t>
            </a:r>
          </a:p>
          <a:p>
            <a:pPr lvl="1"/>
            <a:r>
              <a:rPr lang="en-US" dirty="0"/>
              <a:t>Grazing intensity: bite rate (of individual fish by species)</a:t>
            </a:r>
          </a:p>
          <a:p>
            <a:pPr lvl="1"/>
            <a:r>
              <a:rPr lang="en-US" dirty="0"/>
              <a:t>Coral and algal cover</a:t>
            </a:r>
          </a:p>
          <a:p>
            <a:pPr lvl="1"/>
            <a:r>
              <a:rPr lang="en-US" dirty="0"/>
              <a:t>Fish density, species composition</a:t>
            </a:r>
          </a:p>
          <a:p>
            <a:r>
              <a:rPr lang="en-US" dirty="0"/>
              <a:t>controlled variables (factors):</a:t>
            </a:r>
          </a:p>
          <a:p>
            <a:pPr lvl="1"/>
            <a:r>
              <a:rPr lang="en-US" dirty="0"/>
              <a:t>Habitat (depth gradient, reef structure): fixed effects</a:t>
            </a:r>
          </a:p>
          <a:p>
            <a:pPr lvl="1"/>
            <a:r>
              <a:rPr lang="en-US" dirty="0"/>
              <a:t>Site (reef, random variable): random effects</a:t>
            </a:r>
          </a:p>
        </p:txBody>
      </p:sp>
    </p:spTree>
    <p:extLst>
      <p:ext uri="{BB962C8B-B14F-4D97-AF65-F5344CB8AC3E}">
        <p14:creationId xmlns:p14="http://schemas.microsoft.com/office/powerpoint/2010/main" val="2933638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662B21-0D2F-D1D3-2530-F66C8BEA4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595" y="159992"/>
            <a:ext cx="8942129" cy="65380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AB9F8F-7FEC-2FF2-82CB-657CDE5AC311}"/>
              </a:ext>
            </a:extLst>
          </p:cNvPr>
          <p:cNvSpPr txBox="1"/>
          <p:nvPr/>
        </p:nvSpPr>
        <p:spPr>
          <a:xfrm>
            <a:off x="4460380" y="6488668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0" i="0" dirty="0">
                <a:solidFill>
                  <a:srgbClr val="222222"/>
                </a:solidFill>
                <a:effectLst/>
                <a:latin typeface="Merriweather" panose="020F0502020204030204" pitchFamily="34" charset="0"/>
              </a:rPr>
              <a:t>Mumby and Steneck </a:t>
            </a:r>
            <a:r>
              <a:rPr lang="en-CA" b="0" i="0" dirty="0">
                <a:solidFill>
                  <a:srgbClr val="025E8D"/>
                </a:solidFill>
                <a:effectLst/>
                <a:latin typeface="Merriweather" panose="020F0502020204030204" pitchFamily="34" charset="0"/>
                <a:hlinkClick r:id="rId3" tooltip="Mumby PJ, Steneck RS (2008) Coral reef management and conservation in light of rapidly-evolving ecological paradigms. Trends Ecol Evol 23:555–563"/>
              </a:rPr>
              <a:t>2008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9554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4DAF2-D30C-4306-96C2-3493DDC55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Coral decline</a:t>
            </a:r>
            <a:endParaRPr lang="en-CA" dirty="0"/>
          </a:p>
        </p:txBody>
      </p:sp>
      <p:pic>
        <p:nvPicPr>
          <p:cNvPr id="4" name="Picture 2" descr="Figure 1">
            <a:extLst>
              <a:ext uri="{FF2B5EF4-FFF2-40B4-BE49-F238E27FC236}">
                <a16:creationId xmlns:a16="http://schemas.microsoft.com/office/drawing/2014/main" id="{071F0CD4-54BD-4E6A-9FCA-D7DF39255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603" y="1950585"/>
            <a:ext cx="5715000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2516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BA488-9C2F-4F0C-8CAD-86A75560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Grazers</a:t>
            </a:r>
            <a:endParaRPr lang="en-CA" b="1" dirty="0"/>
          </a:p>
        </p:txBody>
      </p:sp>
      <p:pic>
        <p:nvPicPr>
          <p:cNvPr id="4" name="Picture 4" descr="Image result">
            <a:extLst>
              <a:ext uri="{FF2B5EF4-FFF2-40B4-BE49-F238E27FC236}">
                <a16:creationId xmlns:a16="http://schemas.microsoft.com/office/drawing/2014/main" id="{AD0E83AC-D2EC-40E6-A87B-778CB9112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99" y="2893134"/>
            <a:ext cx="3407107" cy="226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Scarus vetula.jpg">
            <a:extLst>
              <a:ext uri="{FF2B5EF4-FFF2-40B4-BE49-F238E27FC236}">
                <a16:creationId xmlns:a16="http://schemas.microsoft.com/office/drawing/2014/main" id="{3B8458DC-5494-4A29-A6E6-82C55DB00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9066" y="2632438"/>
            <a:ext cx="2554201" cy="397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Diadema antillarum Flower Garden Banks.jpg">
            <a:extLst>
              <a:ext uri="{FF2B5EF4-FFF2-40B4-BE49-F238E27FC236}">
                <a16:creationId xmlns:a16="http://schemas.microsoft.com/office/drawing/2014/main" id="{0911316F-B16A-410B-B700-D1E17F72C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120" y="478867"/>
            <a:ext cx="4240932" cy="281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8A8621-3C4B-425D-B4B3-225D42D302CB}"/>
              </a:ext>
            </a:extLst>
          </p:cNvPr>
          <p:cNvSpPr/>
          <p:nvPr/>
        </p:nvSpPr>
        <p:spPr>
          <a:xfrm>
            <a:off x="4740500" y="3405582"/>
            <a:ext cx="32700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long-</a:t>
            </a:r>
            <a:r>
              <a:rPr lang="en-CA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spined</a:t>
            </a:r>
            <a:r>
              <a:rPr lang="en-CA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sea urchin (</a:t>
            </a:r>
            <a:r>
              <a:rPr lang="en-CA" b="1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Diadema</a:t>
            </a:r>
            <a:r>
              <a:rPr lang="en-CA" b="1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CA" b="1" i="1" dirty="0" err="1">
                <a:solidFill>
                  <a:srgbClr val="222222"/>
                </a:solidFill>
                <a:latin typeface="Arial" panose="020B0604020202020204" pitchFamily="34" charset="0"/>
              </a:rPr>
              <a:t>a</a:t>
            </a:r>
            <a:r>
              <a:rPr lang="en-CA" b="1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ntillarum</a:t>
            </a:r>
            <a:r>
              <a:rPr lang="en-CA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F6B94D-3575-4FA8-9946-2E75639A9120}"/>
              </a:ext>
            </a:extLst>
          </p:cNvPr>
          <p:cNvSpPr/>
          <p:nvPr/>
        </p:nvSpPr>
        <p:spPr>
          <a:xfrm>
            <a:off x="9168930" y="1847252"/>
            <a:ext cx="23543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Queen Parrotfish (</a:t>
            </a:r>
            <a:r>
              <a:rPr lang="en-CA" b="1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Scarus</a:t>
            </a:r>
            <a:r>
              <a:rPr lang="en-CA" b="1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CA" b="1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vetula</a:t>
            </a:r>
            <a:r>
              <a:rPr lang="en-CA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</a:t>
            </a:r>
            <a:endParaRPr lang="en-CA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8BC6D9-53E7-4474-BD07-A0F54090EF35}"/>
              </a:ext>
            </a:extLst>
          </p:cNvPr>
          <p:cNvSpPr/>
          <p:nvPr/>
        </p:nvSpPr>
        <p:spPr>
          <a:xfrm>
            <a:off x="1019942" y="5301733"/>
            <a:ext cx="26186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b="1" i="0" dirty="0">
                <a:solidFill>
                  <a:srgbClr val="000000"/>
                </a:solidFill>
                <a:effectLst/>
                <a:latin typeface="Open Sans"/>
              </a:rPr>
              <a:t>Stoplight parrotfish (</a:t>
            </a:r>
            <a:r>
              <a:rPr lang="en-CA" b="1" i="1" dirty="0" err="1">
                <a:solidFill>
                  <a:srgbClr val="000000"/>
                </a:solidFill>
                <a:effectLst/>
                <a:latin typeface="Open Sans"/>
              </a:rPr>
              <a:t>Sparisoma</a:t>
            </a:r>
            <a:r>
              <a:rPr lang="en-CA" b="1" i="1" dirty="0">
                <a:solidFill>
                  <a:srgbClr val="000000"/>
                </a:solidFill>
                <a:effectLst/>
                <a:latin typeface="Open Sans"/>
              </a:rPr>
              <a:t> </a:t>
            </a:r>
            <a:r>
              <a:rPr lang="en-CA" b="1" i="1" dirty="0" err="1">
                <a:solidFill>
                  <a:srgbClr val="000000"/>
                </a:solidFill>
                <a:effectLst/>
                <a:latin typeface="Open Sans"/>
              </a:rPr>
              <a:t>viride</a:t>
            </a:r>
            <a:r>
              <a:rPr lang="en-CA" b="1" i="0" dirty="0">
                <a:solidFill>
                  <a:srgbClr val="000000"/>
                </a:solidFill>
                <a:effectLst/>
                <a:latin typeface="Open Sans"/>
              </a:rPr>
              <a:t>)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407382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0AACE-1576-4703-B80C-0C65663DA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 between the coral </a:t>
            </a:r>
            <a:r>
              <a:rPr lang="en-US" i="1" dirty="0" err="1"/>
              <a:t>Orbicella</a:t>
            </a:r>
            <a:r>
              <a:rPr lang="en-US" i="1" dirty="0"/>
              <a:t> </a:t>
            </a:r>
            <a:r>
              <a:rPr lang="en-US" i="1" dirty="0" err="1"/>
              <a:t>annularis</a:t>
            </a:r>
            <a:r>
              <a:rPr lang="en-US" dirty="0"/>
              <a:t> and turf algae containing sediment</a:t>
            </a:r>
          </a:p>
        </p:txBody>
      </p:sp>
      <p:pic>
        <p:nvPicPr>
          <p:cNvPr id="7170" name="Picture 2" descr="Figure 3">
            <a:extLst>
              <a:ext uri="{FF2B5EF4-FFF2-40B4-BE49-F238E27FC236}">
                <a16:creationId xmlns:a16="http://schemas.microsoft.com/office/drawing/2014/main" id="{FF9619E6-0909-4DB7-B67F-D70DCAF30F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805"/>
          <a:stretch/>
        </p:blipFill>
        <p:spPr bwMode="auto">
          <a:xfrm>
            <a:off x="1402475" y="2281238"/>
            <a:ext cx="4474134" cy="363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Figure 3">
            <a:extLst>
              <a:ext uri="{FF2B5EF4-FFF2-40B4-BE49-F238E27FC236}">
                <a16:creationId xmlns:a16="http://schemas.microsoft.com/office/drawing/2014/main" id="{6D198683-D45F-4717-835B-489B62715C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196" b="265"/>
          <a:stretch/>
        </p:blipFill>
        <p:spPr bwMode="auto">
          <a:xfrm>
            <a:off x="6488825" y="3133726"/>
            <a:ext cx="4474134" cy="228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2199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6FA98-CB03-4D1C-99B2-FCFD4B4CE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107951"/>
            <a:ext cx="10782300" cy="1625800"/>
          </a:xfrm>
        </p:spPr>
        <p:txBody>
          <a:bodyPr>
            <a:normAutofit/>
          </a:bodyPr>
          <a:lstStyle/>
          <a:p>
            <a:r>
              <a:rPr lang="en-US" sz="3200" dirty="0"/>
              <a:t>Ecological interactions (competition) between coral and algae. </a:t>
            </a:r>
            <a:endParaRPr lang="en-CA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247919-DABC-4EA2-9205-AA4C1DC7A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062" y="1710908"/>
            <a:ext cx="5894588" cy="490691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DBDF866-F467-4030-B859-63762BE3FE0F}"/>
              </a:ext>
            </a:extLst>
          </p:cNvPr>
          <p:cNvSpPr/>
          <p:nvPr/>
        </p:nvSpPr>
        <p:spPr>
          <a:xfrm>
            <a:off x="9391650" y="3201500"/>
            <a:ext cx="145732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Top left: </a:t>
            </a:r>
            <a:r>
              <a:rPr lang="en-US" i="1" dirty="0" err="1"/>
              <a:t>Coelothrix</a:t>
            </a:r>
            <a:r>
              <a:rPr lang="en-US" i="1" dirty="0"/>
              <a:t> </a:t>
            </a:r>
            <a:r>
              <a:rPr lang="en-US" i="1" dirty="0" err="1"/>
              <a:t>irregularis</a:t>
            </a:r>
            <a:r>
              <a:rPr lang="en-US" dirty="0"/>
              <a:t>. Top right: </a:t>
            </a:r>
            <a:r>
              <a:rPr lang="en-US" i="1" dirty="0" err="1"/>
              <a:t>Laurencia</a:t>
            </a:r>
            <a:r>
              <a:rPr lang="en-US" i="1" dirty="0"/>
              <a:t> </a:t>
            </a:r>
            <a:r>
              <a:rPr lang="en-US" i="1" dirty="0" err="1"/>
              <a:t>obtusa</a:t>
            </a:r>
            <a:r>
              <a:rPr lang="en-US" i="1" dirty="0"/>
              <a:t>. </a:t>
            </a:r>
            <a:r>
              <a:rPr lang="en-US" dirty="0"/>
              <a:t>Bottom left: </a:t>
            </a:r>
            <a:r>
              <a:rPr lang="en-US" i="1" dirty="0" err="1"/>
              <a:t>Dictyota</a:t>
            </a:r>
            <a:r>
              <a:rPr lang="en-US" i="1" dirty="0"/>
              <a:t> </a:t>
            </a:r>
            <a:r>
              <a:rPr lang="en-US" i="1" dirty="0" err="1"/>
              <a:t>cervicornis</a:t>
            </a:r>
            <a:r>
              <a:rPr lang="en-US" i="1" dirty="0"/>
              <a:t>. </a:t>
            </a:r>
            <a:r>
              <a:rPr lang="en-US" dirty="0"/>
              <a:t>Bottom right: </a:t>
            </a:r>
            <a:r>
              <a:rPr lang="en-US" i="1" dirty="0" err="1"/>
              <a:t>Halimeda</a:t>
            </a:r>
            <a:r>
              <a:rPr lang="en-US" i="1" dirty="0"/>
              <a:t> </a:t>
            </a:r>
            <a:r>
              <a:rPr lang="en-US" i="1" dirty="0" err="1"/>
              <a:t>opunt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35213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E9A7C-D6E0-4820-88B9-145FB42D2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57850" cy="1325563"/>
          </a:xfrm>
        </p:spPr>
        <p:txBody>
          <a:bodyPr/>
          <a:lstStyle/>
          <a:p>
            <a:r>
              <a:rPr lang="en-US" dirty="0"/>
              <a:t>competition, grazing and positive feedbacks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191487-54D6-45E8-8D55-B4813CEA9D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0" t="2496" r="58769" b="7288"/>
          <a:stretch/>
        </p:blipFill>
        <p:spPr>
          <a:xfrm>
            <a:off x="7331914" y="227750"/>
            <a:ext cx="3048000" cy="31837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23FF6F-2CD6-4ECD-8BA1-7BBFCEEBC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907" y="2056800"/>
            <a:ext cx="3384150" cy="162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4BB099-A1AB-4B5B-B7FB-2CD1841D3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6650" y="3899662"/>
            <a:ext cx="2021700" cy="302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13AB96-D344-42A2-84DE-81A7068CDB15}"/>
              </a:ext>
            </a:extLst>
          </p:cNvPr>
          <p:cNvSpPr/>
          <p:nvPr/>
        </p:nvSpPr>
        <p:spPr>
          <a:xfrm>
            <a:off x="619125" y="455208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STIXGeneral-Regular"/>
              </a:rPr>
              <a:t>(</a:t>
            </a:r>
            <a:r>
              <a:rPr lang="en-US" dirty="0" err="1">
                <a:latin typeface="STIXGeneral-Regular"/>
              </a:rPr>
              <a:t>i</a:t>
            </a:r>
            <a:r>
              <a:rPr lang="en-US" dirty="0">
                <a:latin typeface="STIXGeneral-Regular"/>
              </a:rPr>
              <a:t>) macroalgae overgrows coral at a rate </a:t>
            </a:r>
            <a:r>
              <a:rPr lang="en-US" i="1" dirty="0">
                <a:latin typeface="STIXMath-Italic"/>
              </a:rPr>
              <a:t>𝑎</a:t>
            </a:r>
            <a:r>
              <a:rPr lang="en-US" dirty="0">
                <a:latin typeface="STIXGeneral-Regular"/>
              </a:rPr>
              <a:t>, (ii) macroalgae</a:t>
            </a:r>
          </a:p>
          <a:p>
            <a:r>
              <a:rPr lang="en-US" dirty="0">
                <a:latin typeface="STIXGeneral-Regular"/>
              </a:rPr>
              <a:t>spreads vegetatively over algal turfs at a rate </a:t>
            </a:r>
            <a:r>
              <a:rPr lang="en-US" i="1" dirty="0">
                <a:latin typeface="STIXMath-Italic"/>
              </a:rPr>
              <a:t>𝛾</a:t>
            </a:r>
            <a:r>
              <a:rPr lang="en-US" dirty="0">
                <a:latin typeface="STIXGeneral-Regular"/>
              </a:rPr>
              <a:t>, (iii) coral recruits to and overgrows algal turfs at a total</a:t>
            </a:r>
          </a:p>
          <a:p>
            <a:r>
              <a:rPr lang="en-US" dirty="0">
                <a:latin typeface="STIXGeneral-Regular"/>
              </a:rPr>
              <a:t>rate of </a:t>
            </a:r>
            <a:r>
              <a:rPr lang="en-US" i="1" dirty="0">
                <a:latin typeface="STIXMath-Italic"/>
              </a:rPr>
              <a:t>𝑟</a:t>
            </a:r>
            <a:r>
              <a:rPr lang="en-US" dirty="0">
                <a:latin typeface="STIXGeneral-Regular"/>
              </a:rPr>
              <a:t>, (iv) coral has a natural mortality rate of </a:t>
            </a:r>
            <a:r>
              <a:rPr lang="en-US" i="1" dirty="0">
                <a:latin typeface="STIXMath-Italic"/>
              </a:rPr>
              <a:t>𝑑</a:t>
            </a:r>
            <a:r>
              <a:rPr lang="en-US" dirty="0">
                <a:latin typeface="STIXGeneral-Regular"/>
              </a:rPr>
              <a:t>, which then gives rise to algal turfs, and (v) grazers</a:t>
            </a:r>
          </a:p>
          <a:p>
            <a:r>
              <a:rPr lang="en-US" dirty="0">
                <a:latin typeface="STIXGeneral-Regular"/>
              </a:rPr>
              <a:t>feed indiscriminately on both algal types at a fixed rate </a:t>
            </a:r>
            <a:r>
              <a:rPr lang="en-US" i="1" dirty="0">
                <a:latin typeface="STIXMath-Italic"/>
              </a:rPr>
              <a:t>𝑔</a:t>
            </a: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D0BCDC-3787-44CB-B3BB-4DEFC3B220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804" t="12440" r="670" b="1225"/>
          <a:stretch/>
        </p:blipFill>
        <p:spPr>
          <a:xfrm>
            <a:off x="6957064" y="3519488"/>
            <a:ext cx="4810410" cy="333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70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2779C-8E20-4BEB-9E92-6B013A39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Equilibrium covers are denoted by black circles; trajectories are shown in red for grazing intensities of 0.3 (</a:t>
            </a:r>
            <a:r>
              <a:rPr lang="en-US" b="1" dirty="0"/>
              <a:t>a</a:t>
            </a:r>
            <a:r>
              <a:rPr lang="en-US" dirty="0"/>
              <a:t>) and 0.1 (</a:t>
            </a:r>
            <a:r>
              <a:rPr lang="en-US" b="1" dirty="0"/>
              <a:t>b</a:t>
            </a:r>
            <a:r>
              <a:rPr lang="en-US" dirty="0"/>
              <a:t>). </a:t>
            </a:r>
            <a:endParaRPr lang="en-CA" dirty="0"/>
          </a:p>
        </p:txBody>
      </p:sp>
      <p:pic>
        <p:nvPicPr>
          <p:cNvPr id="4098" name="Picture 2" descr="Figure 3">
            <a:extLst>
              <a:ext uri="{FF2B5EF4-FFF2-40B4-BE49-F238E27FC236}">
                <a16:creationId xmlns:a16="http://schemas.microsoft.com/office/drawing/2014/main" id="{E1350FB8-CA45-4756-BC0D-67CF7BB6A5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953"/>
          <a:stretch/>
        </p:blipFill>
        <p:spPr bwMode="auto">
          <a:xfrm>
            <a:off x="1762125" y="2080268"/>
            <a:ext cx="4333875" cy="4402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Figure 3">
            <a:extLst>
              <a:ext uri="{FF2B5EF4-FFF2-40B4-BE49-F238E27FC236}">
                <a16:creationId xmlns:a16="http://schemas.microsoft.com/office/drawing/2014/main" id="{15A3B817-5D5D-45E0-BA93-B43A97B561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326" b="-1849"/>
          <a:stretch/>
        </p:blipFill>
        <p:spPr bwMode="auto">
          <a:xfrm>
            <a:off x="5743575" y="2247899"/>
            <a:ext cx="4333875" cy="435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066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09A0-E651-4725-8B10-1A5DB9A4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273834" cy="1319984"/>
          </a:xfrm>
        </p:spPr>
        <p:txBody>
          <a:bodyPr/>
          <a:lstStyle/>
          <a:p>
            <a:r>
              <a:rPr lang="en-US" dirty="0"/>
              <a:t>Alternate stable states</a:t>
            </a:r>
            <a:endParaRPr lang="en-CA" dirty="0"/>
          </a:p>
        </p:txBody>
      </p:sp>
      <p:pic>
        <p:nvPicPr>
          <p:cNvPr id="8194" name="Picture 2" descr="Image result for alternate stable states">
            <a:extLst>
              <a:ext uri="{FF2B5EF4-FFF2-40B4-BE49-F238E27FC236}">
                <a16:creationId xmlns:a16="http://schemas.microsoft.com/office/drawing/2014/main" id="{D560F353-1E21-497C-9754-C50600FC9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33" y="2259601"/>
            <a:ext cx="5894070" cy="387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www.ecologyandsociety.org/vol12/iss2/art36/figure1.jpg">
            <a:extLst>
              <a:ext uri="{FF2B5EF4-FFF2-40B4-BE49-F238E27FC236}">
                <a16:creationId xmlns:a16="http://schemas.microsoft.com/office/drawing/2014/main" id="{863820D9-C4A9-4867-9037-E442EB3FE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1660" y="208732"/>
            <a:ext cx="2473392" cy="6551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6199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gure 1">
            <a:extLst>
              <a:ext uri="{FF2B5EF4-FFF2-40B4-BE49-F238E27FC236}">
                <a16:creationId xmlns:a16="http://schemas.microsoft.com/office/drawing/2014/main" id="{388F7923-FFE1-4E87-8F81-1F3218E20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83" y="1584825"/>
            <a:ext cx="5715000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gure 2">
            <a:extLst>
              <a:ext uri="{FF2B5EF4-FFF2-40B4-BE49-F238E27FC236}">
                <a16:creationId xmlns:a16="http://schemas.microsoft.com/office/drawing/2014/main" id="{52B8E619-30CC-42EA-BB33-DAD1E042D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0483" y="1599657"/>
            <a:ext cx="5715000" cy="460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725227-10EB-43FC-86DF-AE6FBB7D2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Thresholds and the resilience of Caribbean coral reefs</a:t>
            </a:r>
            <a:br>
              <a:rPr lang="en-US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98764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6604</TotalTime>
  <Words>525</Words>
  <Application>Microsoft Macintosh PowerPoint</Application>
  <PresentationFormat>Widescreen</PresentationFormat>
  <Paragraphs>52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Merriweather</vt:lpstr>
      <vt:lpstr>Open Sans</vt:lpstr>
      <vt:lpstr>STIXGeneral-Regular</vt:lpstr>
      <vt:lpstr>STIXMath-Italic</vt:lpstr>
      <vt:lpstr>Wingdings</vt:lpstr>
      <vt:lpstr>Office Theme</vt:lpstr>
      <vt:lpstr>Regulation of coral-algal interactions</vt:lpstr>
      <vt:lpstr>Coral decline</vt:lpstr>
      <vt:lpstr>Grazers</vt:lpstr>
      <vt:lpstr>Interactions between the coral Orbicella annularis and turf algae containing sediment</vt:lpstr>
      <vt:lpstr>Marine protected areas</vt:lpstr>
      <vt:lpstr>PowerPoint Presentation</vt:lpstr>
      <vt:lpstr>Fishing, Trophic Cascades, and the Process of Grazing on Coral Reefs</vt:lpstr>
      <vt:lpstr>PowerPoint Presentation</vt:lpstr>
      <vt:lpstr>Folkestone Reef</vt:lpstr>
      <vt:lpstr>PowerPoint Presentation</vt:lpstr>
      <vt:lpstr>Sampling design</vt:lpstr>
      <vt:lpstr>PowerPoint Presentation</vt:lpstr>
      <vt:lpstr>Coral decline</vt:lpstr>
      <vt:lpstr>Grazers</vt:lpstr>
      <vt:lpstr>Interactions between the coral Orbicella annularis and turf algae containing sediment</vt:lpstr>
      <vt:lpstr>Ecological interactions (competition) between coral and algae. </vt:lpstr>
      <vt:lpstr>competition, grazing and positive feedbacks</vt:lpstr>
      <vt:lpstr>Equilibrium covers are denoted by black circles; trajectories are shown in red for grazing intensities of 0.3 (a) and 0.1 (b). </vt:lpstr>
      <vt:lpstr>Alternate stable states</vt:lpstr>
      <vt:lpstr>Thresholds and the resilience of Caribbean coral reefs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Frédéric Guichard, Prof.</dc:creator>
  <cp:lastModifiedBy>Frederic Guichard, Prof</cp:lastModifiedBy>
  <cp:revision>41</cp:revision>
  <dcterms:created xsi:type="dcterms:W3CDTF">2018-04-26T18:29:13Z</dcterms:created>
  <dcterms:modified xsi:type="dcterms:W3CDTF">2026-05-04T12:55:14Z</dcterms:modified>
</cp:coreProperties>
</file>